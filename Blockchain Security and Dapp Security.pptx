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Proxima Nova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324f6211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324f6211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324f621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324f621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324f6211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324f6211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337ce66e4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337ce66e4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337ce66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7337ce66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45f46739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45f46739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45f46739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45f467399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486ac80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e486ac80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34e39b79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734e39b79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324f6211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7324f6211c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34e39b795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734e39b795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734e39b79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734e39b79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324f6211c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324f6211c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Cybervenom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x.com/H4r5h_T4nd37" TargetMode="External"/><Relationship Id="rId11" Type="http://schemas.openxmlformats.org/officeDocument/2006/relationships/image" Target="../media/image12.jpg"/><Relationship Id="rId5" Type="http://schemas.openxmlformats.org/officeDocument/2006/relationships/image" Target="../media/image9.jpg"/><Relationship Id="rId10" Type="http://schemas.openxmlformats.org/officeDocument/2006/relationships/hyperlink" Target="https://github.com/HARSH-21" TargetMode="External"/><Relationship Id="rId4" Type="http://schemas.openxmlformats.org/officeDocument/2006/relationships/hyperlink" Target="https://www.linkedin.com/in/harsh-tandel-939785193" TargetMode="External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82875" y="1314950"/>
            <a:ext cx="8684100" cy="1588500"/>
          </a:xfrm>
          <a:prstGeom prst="rect">
            <a:avLst/>
          </a:prstGeom>
          <a:effectLst>
            <a:outerShdw blurRad="63500" dist="63500" dir="5400000" sx="11000" sy="11000" algn="ctr" rotWithShape="0">
              <a:schemeClr val="tx1">
                <a:alpha val="43000"/>
              </a:schemeClr>
            </a:outerShdw>
          </a:effectLst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Blockchain,Dapp and Cybersecurity</a:t>
            </a:r>
            <a:endParaRPr sz="50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2970975" y="3106125"/>
            <a:ext cx="60960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Harsh Tandel</a:t>
            </a:r>
            <a:endParaRPr sz="32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 b="1" dirty="0"/>
              <a:t>Who Am I </a:t>
            </a:r>
            <a:endParaRPr sz="2020" b="1" dirty="0"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83100" y="636725"/>
            <a:ext cx="8933100" cy="4227600"/>
          </a:xfrm>
          <a:prstGeom prst="rect">
            <a:avLst/>
          </a:prstGeom>
          <a:effectLst>
            <a:outerShdw blurRad="57150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Cyber Security Consultant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Certified Blockchain Security Examiner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P1 Warrior Bugcrowd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Bugbase Global Top 200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Integrity Global Top 1000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CVE 2022-3343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Awarded by MOD UK,Dutch Tax Admin,Indian police 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Speaker &amp; Trainer</a:t>
            </a:r>
            <a:endParaRPr sz="160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Blockchain &amp; AI Security Researcher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67" name="Google Shape;67;p14" title="UOsISwGu_400x40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6950" y="924725"/>
            <a:ext cx="3263050" cy="326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>
            <a:off x="159300" y="64025"/>
            <a:ext cx="8520600" cy="5727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SzPts val="990"/>
            </a:pPr>
            <a:r>
              <a:rPr lang="en" sz="202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Cyber Security </a:t>
            </a:r>
            <a:endParaRPr sz="202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83100" y="619075"/>
            <a:ext cx="5328000" cy="43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Cybersecurity is not about just ethical hacking it’s beyond it.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Below are main domains of it and there is more.</a:t>
            </a: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1.Offensive Security 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Appsec</a:t>
            </a:r>
            <a:r>
              <a:rPr lang="en" sz="1400" b="1" dirty="0">
                <a:solidFill>
                  <a:schemeClr val="dk1"/>
                </a:solidFill>
              </a:rPr>
              <a:t>,</a:t>
            </a:r>
            <a:r>
              <a:rPr lang="en" sz="1400" dirty="0">
                <a:solidFill>
                  <a:schemeClr val="dk1"/>
                </a:solidFill>
              </a:rPr>
              <a:t>Vulnerability Assessment Penetration Testing(VAPT),Red Teaming</a:t>
            </a:r>
            <a:endParaRPr sz="14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2.Defensive Security</a:t>
            </a:r>
            <a:endParaRPr sz="14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Security Operation Center(SOC),Threat Hunting,Incident Response</a:t>
            </a:r>
            <a:endParaRPr sz="14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3.Compliance GRC 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 </a:t>
            </a:r>
            <a:r>
              <a:rPr lang="en" sz="1400" dirty="0">
                <a:solidFill>
                  <a:schemeClr val="dk1"/>
                </a:solidFill>
              </a:rPr>
              <a:t>Policy and Compliance,Audit and Standard</a:t>
            </a:r>
            <a:endParaRPr sz="14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4.Security Architecture &amp; Engineering 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</a:rPr>
              <a:t>SSDLC,IAM,Zero Trust,Configuration Review,Devsecops</a:t>
            </a:r>
            <a:endParaRPr sz="1400" dirty="0">
              <a:solidFill>
                <a:schemeClr val="dk1"/>
              </a:solidFill>
            </a:endParaRPr>
          </a:p>
        </p:txBody>
      </p:sp>
      <p:pic>
        <p:nvPicPr>
          <p:cNvPr id="74" name="Google Shape;74;p15" title="175384875527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100" y="103325"/>
            <a:ext cx="3656700" cy="49256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1" name="Google Shape;81;p16" title="Cyber security domain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46425"/>
            <a:ext cx="8974602" cy="495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6900" y="-12175"/>
            <a:ext cx="9144000" cy="5403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 b="1" dirty="0"/>
              <a:t>Blockchain Basics</a:t>
            </a:r>
            <a:endParaRPr sz="2400" b="1" dirty="0"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106150" y="611375"/>
            <a:ext cx="6285300" cy="4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Blockchain?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decentralized, digital ledger that records transactions across multiple computers so that the record cannot be altered retroactively without the alteration of all subsequent blocks and the consensus of the network.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Characteristics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Transparency, immutability, security, and decentralization.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Components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Blocks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Contain a list of transactions, a timestamp, and a reference to the previous block (hash).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unique identifier for a block, generated from the block's contents.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Consensus Mechanism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Protocol used to achieve agreement among nodes (e.g., Proof of Work, Proof of Stake).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Blockchain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Open to anyone to join and participate (e.g., Bitcoin, Ethereum).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Restricted to specific participants (e.g., Hyperledger, Corda).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Consortium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Controlled by a group of organizations.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1900" y="543400"/>
            <a:ext cx="2551250" cy="436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550" y="1048725"/>
            <a:ext cx="3870374" cy="29148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0" y="81100"/>
            <a:ext cx="5364300" cy="5379904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Blockchain Works</a:t>
            </a:r>
            <a:endParaRPr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Transactions</a:t>
            </a:r>
            <a:r>
              <a:rPr lang="en" sz="1200" dirty="0"/>
              <a:t>: Data is recorded as transactions.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Blocks</a:t>
            </a:r>
            <a:r>
              <a:rPr lang="en" sz="1200" dirty="0"/>
              <a:t>: Transactions are grouped together in blocks.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Chains</a:t>
            </a:r>
            <a:r>
              <a:rPr lang="en" sz="1200" dirty="0"/>
              <a:t>: Blocks are linked together in a chronological chain.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 b="1" dirty="0"/>
              <a:t>Nodes</a:t>
            </a:r>
            <a:r>
              <a:rPr lang="en" sz="1200" dirty="0"/>
              <a:t>: Computers on the network (nodes) validate and relay transactions.</a:t>
            </a:r>
            <a:endParaRPr sz="12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/>
              <a:t>Cryptographic Algorithms in Blockchain</a:t>
            </a:r>
            <a:endParaRPr sz="1200" b="1" dirty="0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/>
              <a:t>SHA-256</a:t>
            </a:r>
            <a:r>
              <a:rPr lang="en" sz="1200" dirty="0"/>
              <a:t>: Commonly used in Bitcoin for hashing blocks.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/>
              <a:t>ECDSA (Elliptic Curve Digital Signature Algorithm)</a:t>
            </a:r>
            <a:r>
              <a:rPr lang="en" sz="1200" dirty="0"/>
              <a:t>: Used for digital signatures in Bitcoin and Ethereum.</a:t>
            </a:r>
            <a:endParaRPr sz="1200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/>
              <a:t>Use Cases</a:t>
            </a:r>
            <a:endParaRPr sz="1200" b="1" dirty="0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/>
              <a:t>Cryptocurrencies</a:t>
            </a:r>
            <a:r>
              <a:rPr lang="en" sz="1200" dirty="0"/>
              <a:t>: Bitcoin, Ethereum, and other digital currencies.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/>
              <a:t>Supply Chain Management</a:t>
            </a:r>
            <a:r>
              <a:rPr lang="en" sz="1200" dirty="0"/>
              <a:t>: Tracking goods from origin to consumer.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/>
              <a:t>Healthcare</a:t>
            </a:r>
            <a:r>
              <a:rPr lang="en" sz="1200" dirty="0"/>
              <a:t>: Securely sharing patient records.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/>
              <a:t>Finance</a:t>
            </a:r>
            <a:r>
              <a:rPr lang="en" sz="1200" dirty="0"/>
              <a:t>: Cross-border payments, smart contracts.</a:t>
            </a:r>
            <a:endParaRPr sz="1200" dirty="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/>
              <a:t>Voting Systems</a:t>
            </a:r>
            <a:r>
              <a:rPr lang="en" sz="1200" dirty="0"/>
              <a:t>: Ensuring transparent and tamper-proof elections.</a:t>
            </a:r>
            <a:endParaRPr sz="1200" dirty="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489125"/>
            <a:ext cx="5871900" cy="45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51% Attack</a:t>
            </a:r>
            <a:endParaRPr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 attack where a single entity gains control of more than 50% of the network's mining power.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Enables attackers to double-spend, halt transactions, and reverse transactions.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Bitcoin Gold attack in 2018 resulted in double-spending and over $18 million in losses.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Improved consensus mechanisms, increased decentralization, and higher network difficulty.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Flash Loans</a:t>
            </a:r>
            <a:endParaRPr sz="1049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Instant, uncollateralized loans that must be repaid within the same transaction.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Can be used to manipulate prices, exploit vulnerabilities in DeFi protocols.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bZx protocol attack in 2020, where flash loans were used to manipulate oracle prices, leading to significant losses.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Enhanced contract security, improved price oracles, and monitoring for suspicious activity.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Double Spending</a:t>
            </a:r>
            <a:endParaRPr sz="1049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 act of spending the same cryptocurrency more than once.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Undermines the trust and integrity of the blockchain.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Common in 51% attacks, where transaction history can be rewritten.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Robust consensus algorithms and sufficient network hash rate to prevent 51% control.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Signature Replay Attack</a:t>
            </a:r>
            <a:endParaRPr sz="1049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Reusing the same transaction data on different blockchains or networks.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Unauthorized transactions or double spending across different chains.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Ethereum and Ethereum Classic split led to potential replay attacks.</a:t>
            </a:r>
            <a:endParaRPr sz="104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85245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049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4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Implement replay protection mechanisms and use unique transaction identifiers.</a:t>
            </a:r>
            <a:endParaRPr sz="1049" dirty="0"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235500" y="8609"/>
            <a:ext cx="8520600" cy="4251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990"/>
              <a:buNone/>
            </a:pPr>
            <a:r>
              <a:rPr lang="e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Common</a:t>
            </a:r>
            <a:r>
              <a:rPr lang="en" sz="1800" b="1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Security Vulnerabilities in Blockchain</a:t>
            </a:r>
            <a:endParaRPr sz="20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6700" y="1329700"/>
            <a:ext cx="2917399" cy="2234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6900" y="0"/>
            <a:ext cx="9144000" cy="5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Front Running Attack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Exploiting knowledge of pending transactions to insert one's own transactions first by paying higher fees.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Unfair advantage and financial losses for original transaction initiators.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Common in decentralized exchanges where order information is publicly visible.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Implement transaction ordering rules and privacy-preserving transaction techniques.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Access Control Issue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Improper enforcement of permissions and roles within smart contracts.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Unauthorized access to critical functions and potential exploitation.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Insecure function exposure in smart contracts allowing unauthorized transfers.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Rigorous access control mechanisms and thorough contract audits.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Oracle Manipulation Attack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Exploiting the data provided by external oracles to manipulate smart contract outcomes.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Incorrect execution of smart contracts based on false data.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bZx protocol exploit where attackers manipulated oracle prices to their advantage.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Use multiple oracles for redundancy and implement decentralized oracle solutions.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Sybil Attack</a:t>
            </a:r>
            <a:endParaRPr sz="11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 attacker creates multiple fake identities to gain control over the network.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Disproportionate influence in consensus mechanisms and potential network disruption.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An attacker creating numerous nodes to overwhelm a decentralized network’s voting system.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Mitigation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:Implement robust identity verification and reputation systems to limit the creation of fake identities.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025" y="952750"/>
            <a:ext cx="3180975" cy="179043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83100" y="0"/>
            <a:ext cx="8949300" cy="3621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/>
              <a:t>Security Measures in Blockchain</a:t>
            </a:r>
            <a:endParaRPr sz="1800" b="1"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83100" y="412775"/>
            <a:ext cx="8949300" cy="45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Cryptographic Hashing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Cryptographic hashing is fundamental to blockchain security. Hash functions like SHA-256 convert input data into a fixed-size string of characters, which appears random.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Ensures data integrity by making it computationally infeasible to alter data without changing the hash. Even a small change in the input produces a significantly different hash.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Digital Signatures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Digital signatures use asymmetric cryptography, typically involving a pair of keys (private and public keys).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They verify the authenticity and integrity of a message or transaction. Only the holder of the private key can create a signature that others can verify using the corresponding public key.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Consensus Mechanisms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Proof of Work (PoW)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Requires miners to solve complex mathematical puzzles to add a block. Ensures network security through computational effort.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Proof of Stake (PoS)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Validators are chosen based on the number of coins they hold and are willing to "stake" as collateral.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Delegated Proof of Stake (DPoS)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Stakeholders elect delegates to validate transactions and secure the network.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Practical Byzantine Fault Tolerance (PBFT)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Ensures consensus despite the presence of malicious nodes. Used in permissioned blockchains.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Data Encryption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Encrypting data stored on the blockchain to protect sensitive information.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lang="en" sz="10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Enhances confidentiality and ensures that even if data is accessed, it cannot be read without the decryption key.</a:t>
            </a: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0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83100" y="107550"/>
            <a:ext cx="8903100" cy="49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Smart Contract Security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Smart contracts are self-executing contracts with the terms of the agreement directly written into code.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Ensures automated and trustworthy execution of transactions. However, they must be carefully audited and tested to avoid vulnerabilities like the DAO attack.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6.Multi-Signature (Multi-Sig) Wallets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Multi-signature wallets require multiple private keys to authorize a transaction.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Enhances security by requiring multiple approvals for transactions, reducing the risk of single-point failures or fraud.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Zero-Knowledge Proofs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Cryptographic techniques that allow one party to prove to another that they know a value without revealing the value itself.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Enhances privacy and security by allowing transactions to be validated without revealing details to the network.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Regular Audits and Penetration Testing</a:t>
            </a: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Regular security audits and penetration testing of the blockchain network and smart contracts.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en" sz="1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Identifies and mitigates vulnerabilities proactively, ensuring the robustness of the blockchain infrastructure.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235500" y="64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Dapp Security Testing</a:t>
            </a:r>
            <a:endParaRPr sz="222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159300" y="636725"/>
            <a:ext cx="8838300" cy="43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41" b="1" dirty="0">
                <a:solidFill>
                  <a:schemeClr val="dk1"/>
                </a:solidFill>
              </a:rPr>
              <a:t>Smart Contract Auditing</a:t>
            </a:r>
            <a:endParaRPr sz="1841" b="1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Static/Automated : mythril,slither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Manual Code Auditing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 b="1" dirty="0">
                <a:solidFill>
                  <a:schemeClr val="dk1"/>
                </a:solidFill>
              </a:rPr>
              <a:t>Onchain component </a:t>
            </a:r>
            <a:endParaRPr sz="1829" b="1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Cross-chain testing: Make sure your app works reliably across different blockchains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Bridge testing: Validate asset transfers between chains without loss, duplication, or data mismatches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 b="1" dirty="0">
                <a:solidFill>
                  <a:schemeClr val="dk1"/>
                </a:solidFill>
              </a:rPr>
              <a:t>Oracle and off chain component security</a:t>
            </a:r>
            <a:endParaRPr sz="1829" b="1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Oracle price manipulation 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Secure Randomness Generation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 b="1" dirty="0">
                <a:solidFill>
                  <a:schemeClr val="dk1"/>
                </a:solidFill>
              </a:rPr>
              <a:t>Web,Mobile &amp; API Security Testing </a:t>
            </a:r>
            <a:endParaRPr sz="1829" b="1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Fuzzing &amp; ASM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Scanning 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Penetration Testing</a:t>
            </a: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29" b="1" dirty="0">
                <a:solidFill>
                  <a:schemeClr val="dk1"/>
                </a:solidFill>
              </a:rPr>
              <a:t>KYC Verification</a:t>
            </a:r>
            <a:endParaRPr sz="1829" b="1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Validation</a:t>
            </a:r>
            <a:endParaRPr sz="1700" dirty="0">
              <a:solidFill>
                <a:schemeClr val="dk1"/>
              </a:solidFill>
            </a:endParaRPr>
          </a:p>
          <a:p>
            <a:pPr marL="457200" lvl="0" indent="-31226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700" dirty="0">
                <a:solidFill>
                  <a:schemeClr val="dk1"/>
                </a:solidFill>
              </a:rPr>
              <a:t>Storing securely</a:t>
            </a:r>
            <a:endParaRPr sz="17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>
            <a:spLocks noGrp="1"/>
          </p:cNvSpPr>
          <p:nvPr>
            <p:ph type="title"/>
          </p:nvPr>
        </p:nvSpPr>
        <p:spPr>
          <a:xfrm>
            <a:off x="83100" y="-12175"/>
            <a:ext cx="8520600" cy="4596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2218" b="1"/>
              <a:t>Crypto Exchange and Crypto Wallet Security</a:t>
            </a:r>
            <a:endParaRPr sz="2218" b="1"/>
          </a:p>
        </p:txBody>
      </p:sp>
      <p:sp>
        <p:nvSpPr>
          <p:cNvPr id="130" name="Google Shape;130;p24"/>
          <p:cNvSpPr txBox="1">
            <a:spLocks noGrp="1"/>
          </p:cNvSpPr>
          <p:nvPr>
            <p:ph type="body" idx="1"/>
          </p:nvPr>
        </p:nvSpPr>
        <p:spPr>
          <a:xfrm>
            <a:off x="83100" y="447425"/>
            <a:ext cx="9060900" cy="45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Cryptocurrency Custody</a:t>
            </a:r>
            <a:endParaRPr sz="111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●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Custody involves holding and managing cryptocurrency assets on behalf of clients.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●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Self-Custody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Individuals manage their own private keys and wallets.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Third-Party Custody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Custodial services (exchanges, financial institutions) hold and manage assets.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●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Importance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Ensures the safety and security of assets, especially for institutional investors.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Custody Solutions</a:t>
            </a:r>
            <a:endParaRPr sz="111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AutoNum type="arabicPeriod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Cold Storage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Storing cryptocurrencies offline to protect them from online hacks.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Hardware wallets, paper wallets.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Highly secure against online threats; vulnerable to physical theft and loss.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AutoNum type="arabicPeriod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Hot Storage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Storing cryptocurrencies online for quick access and transactions.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Online wallets, exchange wallets.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Security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Convenient but more susceptible to online attacks.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Wallet Security</a:t>
            </a:r>
            <a:endParaRPr sz="111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●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Measures and practices to protect cryptocurrency wallets from unauthorized access and theft.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●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 of Wallets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 Wallets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Physical devices that store private keys offline.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Wallets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Applications or software programs for managing cryptocurrencies.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9956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8"/>
              <a:buFont typeface="Arial"/>
              <a:buChar char="○"/>
            </a:pPr>
            <a:r>
              <a:rPr lang="en" sz="1117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Paper Wallets</a:t>
            </a:r>
            <a:r>
              <a:rPr lang="en" sz="11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Physical printouts or handwritten notes of private and public keys.</a:t>
            </a:r>
            <a:endParaRPr sz="11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11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83100" y="64025"/>
            <a:ext cx="8520600" cy="4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2218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Crypto Exchange and Crypto Wallet Pentest Methodology</a:t>
            </a:r>
            <a:endParaRPr sz="1768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6" name="Google Shape;136;p25"/>
          <p:cNvSpPr txBox="1">
            <a:spLocks noGrp="1"/>
          </p:cNvSpPr>
          <p:nvPr>
            <p:ph type="body" idx="1"/>
          </p:nvPr>
        </p:nvSpPr>
        <p:spPr>
          <a:xfrm>
            <a:off x="159300" y="620375"/>
            <a:ext cx="8861400" cy="434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KYC Verification testing is a must for most crypto-exchanges and ICOs.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Input/Output Testing Tools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Testing of the purchase and sale of cryptocurrency (concerns only exchanges)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Testing the registration process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Testing the Authentication Process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Testing of frameworks and technologies used in the development of the exchange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OWASP Testing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lang="en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API testing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200"/>
              </a:spcAft>
              <a:buNone/>
            </a:pPr>
            <a:endParaRPr sz="1117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307550" y="1207250"/>
            <a:ext cx="1978500" cy="492600"/>
          </a:xfrm>
          <a:prstGeom prst="rect">
            <a:avLst/>
          </a:prstGeom>
          <a:noFill/>
          <a:ln>
            <a:noFill/>
          </a:ln>
          <a:effectLst>
            <a:outerShdw blurRad="71438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Let’s Connect</a:t>
            </a:r>
            <a:endParaRPr sz="2000" b="1">
              <a:solidFill>
                <a:schemeClr val="dk1"/>
              </a:solidFill>
            </a:endParaRPr>
          </a:p>
        </p:txBody>
      </p:sp>
      <p:pic>
        <p:nvPicPr>
          <p:cNvPr id="142" name="Google Shape;142;p26" title="1748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450" y="2037225"/>
            <a:ext cx="355700" cy="355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3" name="Google Shape;143;p26"/>
          <p:cNvSpPr txBox="1"/>
          <p:nvPr/>
        </p:nvSpPr>
        <p:spPr>
          <a:xfrm>
            <a:off x="637025" y="1977800"/>
            <a:ext cx="1649100" cy="461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b="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Harsh Tandel</a:t>
            </a:r>
            <a:endParaRPr/>
          </a:p>
        </p:txBody>
      </p:sp>
      <p:pic>
        <p:nvPicPr>
          <p:cNvPr id="144" name="Google Shape;144;p26" title="X Logo (Twitter _ 01) - PNG Logo Vector Brand Downloads (SVG, EPS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9133" y="2564900"/>
            <a:ext cx="474267" cy="35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/>
          <p:nvPr/>
        </p:nvSpPr>
        <p:spPr>
          <a:xfrm>
            <a:off x="688550" y="2515700"/>
            <a:ext cx="1835700" cy="461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b="1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H4r5h_T4nd37</a:t>
            </a:r>
            <a:endParaRPr/>
          </a:p>
        </p:txBody>
      </p:sp>
      <p:pic>
        <p:nvPicPr>
          <p:cNvPr id="146" name="Google Shape;146;p26" title="Medium-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200" y="3748575"/>
            <a:ext cx="875761" cy="49260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7" name="Google Shape;147;p26"/>
          <p:cNvSpPr txBox="1"/>
          <p:nvPr/>
        </p:nvSpPr>
        <p:spPr>
          <a:xfrm>
            <a:off x="993350" y="3710575"/>
            <a:ext cx="1649100" cy="461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b="1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Harsh Tandel</a:t>
            </a:r>
            <a:endParaRPr/>
          </a:p>
        </p:txBody>
      </p:sp>
      <p:pic>
        <p:nvPicPr>
          <p:cNvPr id="148" name="Google Shape;148;p26" title="2523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3942" y="3194829"/>
            <a:ext cx="355708" cy="35570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9" name="Google Shape;149;p26"/>
          <p:cNvSpPr txBox="1"/>
          <p:nvPr/>
        </p:nvSpPr>
        <p:spPr>
          <a:xfrm>
            <a:off x="659675" y="3113150"/>
            <a:ext cx="1464600" cy="4617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 b="1" u="sng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HARSH-21</a:t>
            </a:r>
            <a:endParaRPr/>
          </a:p>
        </p:txBody>
      </p:sp>
      <p:pic>
        <p:nvPicPr>
          <p:cNvPr id="150" name="Google Shape;150;p26" title="image_2044_2_Recovered_8_5d805abd55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775600" y="1496050"/>
            <a:ext cx="6237932" cy="3150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2364950" y="267500"/>
            <a:ext cx="3749700" cy="738000"/>
          </a:xfrm>
          <a:prstGeom prst="rect">
            <a:avLst/>
          </a:prstGeom>
          <a:noFill/>
          <a:ln>
            <a:noFill/>
          </a:ln>
          <a:effectLst>
            <a:outerShdw blurRad="71438" dist="47625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</a:rPr>
              <a:t>Thank You All for listing </a:t>
            </a:r>
            <a:endParaRPr sz="22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1659</Words>
  <Application>Microsoft Office PowerPoint</Application>
  <PresentationFormat>On-screen Show (16:9)</PresentationFormat>
  <Paragraphs>179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Proxima Nova</vt:lpstr>
      <vt:lpstr>Spearmint</vt:lpstr>
      <vt:lpstr>Introduction to Blockchain,Dapp and Cybersecurity</vt:lpstr>
      <vt:lpstr>Who Am I </vt:lpstr>
      <vt:lpstr>Introduction to Cyber Security </vt:lpstr>
      <vt:lpstr>PowerPoint Presentation</vt:lpstr>
      <vt:lpstr>Blockchain Basics</vt:lpstr>
      <vt:lpstr>PowerPoint Presentation</vt:lpstr>
      <vt:lpstr>Common Security Vulnerabilities in Blockchain</vt:lpstr>
      <vt:lpstr>PowerPoint Presentation</vt:lpstr>
      <vt:lpstr>Security Measures in Blockchain</vt:lpstr>
      <vt:lpstr>PowerPoint Presentation</vt:lpstr>
      <vt:lpstr>Dapp Security Testing</vt:lpstr>
      <vt:lpstr>Crypto Exchange and Crypto Wallet Security</vt:lpstr>
      <vt:lpstr>Crypto Exchange and Crypto Wallet Pentest Methodology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Blockchain,Dapp and Cybersecurity</dc:title>
  <cp:lastModifiedBy>Cyber Alias</cp:lastModifiedBy>
  <cp:revision>2</cp:revision>
  <dcterms:modified xsi:type="dcterms:W3CDTF">2025-08-06T01:20:31Z</dcterms:modified>
</cp:coreProperties>
</file>